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Main title"/>
          <p:cNvSpPr>
            <a:spLocks noGrp="1"/>
          </p:cNvSpPr>
          <p:nvPr/>
        </p:nvSpPr>
        <p:spPr>
          <a:xfrm>
            <a:off x="2095500" y="20955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ctr">
              <a:def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150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TECHNOLOGY AND ORGANIZATION</a:t>
            </a:r>
            <a:endParaRPr sz="3150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Technology and innovation strategy circle"/>
          <p:cNvSpPr>
            <a:spLocks noGrp="1"/>
          </p:cNvSpPr>
          <p:nvPr/>
        </p:nvSpPr>
        <p:spPr>
          <a:xfrm>
            <a:off x="4524375" y="876300"/>
            <a:ext cx="3143250" cy="3143250"/>
          </a:xfrm>
          <a:prstGeom prst="ellipse">
            <a:avLst/>
          </a:prstGeom>
          <a:solidFill>
            <a:srgbClr val="A9CDE8">
              <a:alpha val="58000"/>
            </a:srgbClr>
          </a:solidFill>
          <a:ln w="19050">
            <a:solidFill>
              <a:srgbClr val="1D4E89"/>
            </a:solidFill>
            <a:prstDash val="solid"/>
          </a:ln>
        </p:spPr>
      </p:sp>
      <p:sp>
        <p:nvSpPr>
          <p:cNvPr id="3" name="Organization design circle"/>
          <p:cNvSpPr>
            <a:spLocks noGrp="1"/>
          </p:cNvSpPr>
          <p:nvPr/>
        </p:nvSpPr>
        <p:spPr>
          <a:xfrm>
            <a:off x="3476625" y="2362200"/>
            <a:ext cx="3143250" cy="3143250"/>
          </a:xfrm>
          <a:prstGeom prst="ellipse">
            <a:avLst/>
          </a:prstGeom>
          <a:solidFill>
            <a:srgbClr val="A8E5D4">
              <a:alpha val="58000"/>
            </a:srgbClr>
          </a:solidFill>
          <a:ln w="19050">
            <a:solidFill>
              <a:srgbClr val="008E7A"/>
            </a:solidFill>
            <a:prstDash val="solid"/>
          </a:ln>
        </p:spPr>
      </p:sp>
      <p:sp>
        <p:nvSpPr>
          <p:cNvPr id="4" name="Platform governance circle"/>
          <p:cNvSpPr>
            <a:spLocks noGrp="1"/>
          </p:cNvSpPr>
          <p:nvPr/>
        </p:nvSpPr>
        <p:spPr>
          <a:xfrm>
            <a:off x="5572125" y="2362200"/>
            <a:ext cx="3143250" cy="3143250"/>
          </a:xfrm>
          <a:prstGeom prst="ellipse">
            <a:avLst/>
          </a:prstGeom>
          <a:solidFill>
            <a:srgbClr val="F6D58A">
              <a:alpha val="58000"/>
            </a:srgbClr>
          </a:solidFill>
          <a:ln w="19050">
            <a:solidFill>
              <a:srgbClr val="B67800"/>
            </a:solidFill>
            <a:prstDash val="solid"/>
          </a:ln>
        </p:spPr>
      </p:sp>
      <p:sp>
        <p:nvSpPr>
          <p:cNvPr id="5" name="Technology and innovation strategy label"/>
          <p:cNvSpPr>
            <a:spLocks noGrp="1"/>
          </p:cNvSpPr>
          <p:nvPr/>
        </p:nvSpPr>
        <p:spPr>
          <a:xfrm>
            <a:off x="3575685" y="3476625"/>
            <a:ext cx="1905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TECHNOLOGY STRATEGY</a:t>
            </a: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rganization design label"/>
          <p:cNvSpPr>
            <a:spLocks noGrp="1"/>
          </p:cNvSpPr>
          <p:nvPr/>
        </p:nvSpPr>
        <p:spPr>
          <a:xfrm>
            <a:off x="5160010" y="1543050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ORGANIZATION</a:t>
            </a:r>
            <a:r>
              <a:rPr lang="en-US"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</a:t>
            </a: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DESIGN</a:t>
            </a: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Platform governance label"/>
          <p:cNvSpPr>
            <a:spLocks noGrp="1"/>
          </p:cNvSpPr>
          <p:nvPr/>
        </p:nvSpPr>
        <p:spPr>
          <a:xfrm>
            <a:off x="6887845" y="3573145"/>
            <a:ext cx="171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PLATFORM</a:t>
            </a: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ECOSYSTEM</a:t>
            </a:r>
            <a:endParaRPr lang="en-US"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Book review project"/>
          <p:cNvSpPr>
            <a:spLocks noGrp="1"/>
          </p:cNvSpPr>
          <p:nvPr/>
        </p:nvSpPr>
        <p:spPr>
          <a:xfrm>
            <a:off x="266700" y="1809750"/>
            <a:ext cx="33337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Book review of “Foundations of</a:t>
            </a: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Decentralized Organizations:</a:t>
            </a: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Blockchain and the Future of Corporate</a:t>
            </a:r>
            <a:r>
              <a:rPr lang="en-US"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Law”, edited by Kevin Werbach,</a:t>
            </a:r>
            <a:r>
              <a:rPr lang="en-US"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Eva Micheler, and Bianca Kremer.</a:t>
            </a:r>
            <a:r>
              <a:rPr lang="en-US" sz="1575" b="0" i="0">
                <a:solidFill>
                  <a:srgbClr val="102A56"/>
                </a:solidFill>
                <a:latin typeface="Times New Roman Italic" panose="02020603050405020304" charset="0"/>
                <a:ea typeface="Times New Roman" panose="02020603050405020304"/>
                <a:cs typeface="Times New Roman Italic" panose="02020603050405020304" charset="0"/>
              </a:rPr>
              <a:t>(</a:t>
            </a:r>
            <a:r>
              <a:rPr b="0" i="1">
                <a:latin typeface="Times New Roman Italic" panose="02020603050405020304" charset="0"/>
                <a:cs typeface="Times New Roman Italic" panose="02020603050405020304" charset="0"/>
                <a:sym typeface="+mn-ea"/>
              </a:rPr>
              <a:t>Ready for Submission)</a:t>
            </a:r>
            <a:endParaRPr b="0" i="1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0000"/>
              </a:lnSpc>
              <a:buNone/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3371850" y="2857500"/>
            <a:ext cx="1619250" cy="0"/>
          </a:xfrm>
          <a:prstGeom prst="line">
            <a:avLst/>
          </a:prstGeom>
          <a:noFill/>
          <a:ln w="14288">
            <a:solidFill>
              <a:srgbClr val="6B7280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4924425" y="2790825"/>
            <a:ext cx="133350" cy="133350"/>
          </a:xfrm>
          <a:prstGeom prst="ellipse">
            <a:avLst/>
          </a:prstGeom>
          <a:solidFill>
            <a:srgbClr val="6B7280"/>
          </a:solidFill>
          <a:ln w="14288">
            <a:solidFill>
              <a:srgbClr val="FAF9F6"/>
            </a:solidFill>
            <a:prstDash val="solid"/>
          </a:ln>
        </p:spPr>
      </p:sp>
      <p:sp>
        <p:nvSpPr>
          <p:cNvPr id="12" name="Database project"/>
          <p:cNvSpPr>
            <a:spLocks noGrp="1"/>
          </p:cNvSpPr>
          <p:nvPr/>
        </p:nvSpPr>
        <p:spPr>
          <a:xfrm>
            <a:off x="9124950" y="2152650"/>
            <a:ext cx="294703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 New Database of</a:t>
            </a:r>
            <a:r>
              <a:rPr lang="en-US"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Decentralized Platform</a:t>
            </a:r>
            <a:r>
              <a:rPr lang="en-US"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Structures</a:t>
            </a: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7200900" y="2857500"/>
            <a:ext cx="1714500" cy="0"/>
          </a:xfrm>
          <a:prstGeom prst="line">
            <a:avLst/>
          </a:prstGeom>
          <a:noFill/>
          <a:ln w="14288">
            <a:solidFill>
              <a:srgbClr val="6B7280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7134225" y="2790825"/>
            <a:ext cx="133350" cy="133350"/>
          </a:xfrm>
          <a:prstGeom prst="ellipse">
            <a:avLst/>
          </a:prstGeom>
          <a:solidFill>
            <a:srgbClr val="6B7280"/>
          </a:solidFill>
          <a:ln w="14288">
            <a:solidFill>
              <a:srgbClr val="FAF9F6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0" y="3857625"/>
            <a:ext cx="0" cy="1714500"/>
          </a:xfrm>
          <a:prstGeom prst="line">
            <a:avLst/>
          </a:prstGeom>
          <a:noFill/>
          <a:ln w="14288">
            <a:solidFill>
              <a:srgbClr val="6B7280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6029325" y="3790950"/>
            <a:ext cx="133350" cy="133350"/>
          </a:xfrm>
          <a:prstGeom prst="ellipse">
            <a:avLst/>
          </a:prstGeom>
          <a:solidFill>
            <a:srgbClr val="6B7280"/>
          </a:solidFill>
          <a:ln w="14288">
            <a:solidFill>
              <a:srgbClr val="FAF9F6"/>
            </a:solidFill>
            <a:prstDash val="solid"/>
          </a:ln>
        </p:spPr>
      </p:sp>
      <p:sp>
        <p:nvSpPr>
          <p:cNvPr id="17" name="Open-source project"/>
          <p:cNvSpPr>
            <a:spLocks noGrp="1"/>
          </p:cNvSpPr>
          <p:nvPr/>
        </p:nvSpPr>
        <p:spPr>
          <a:xfrm>
            <a:off x="3048000" y="5619750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Beyond Open-Source Adoption: Open-Source Developer</a:t>
            </a:r>
            <a:endParaRPr sz="1575" b="1" i="0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Activity and Platform Ecosystem Market Performance</a:t>
            </a:r>
            <a:r>
              <a:rPr lang="en-US" sz="1575" b="1" i="0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sz="1575" b="0" i="1">
                <a:solidFill>
                  <a:srgbClr val="102A56"/>
                </a:solidFill>
                <a:latin typeface="Times New Roman Italic" panose="02020603050405020304" charset="0"/>
                <a:ea typeface="Times New Roman" panose="02020603050405020304"/>
                <a:cs typeface="Times New Roman Italic" panose="02020603050405020304" charset="0"/>
              </a:rPr>
              <a:t>(In Progress)</a:t>
            </a:r>
            <a:endParaRPr lang="en-US" sz="1575" b="0" i="1">
              <a:solidFill>
                <a:srgbClr val="102A56"/>
              </a:solidFill>
              <a:latin typeface="Times New Roman Italic" panose="02020603050405020304" charset="0"/>
              <a:ea typeface="Times New Roman" panose="02020603050405020304"/>
              <a:cs typeface="Times New Roman Italic" panose="02020603050405020304" charset="0"/>
            </a:endParaRPr>
          </a:p>
        </p:txBody>
      </p:sp>
      <p:sp>
        <p:nvSpPr>
          <p:cNvPr id="20" name="Book review status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91135" y="3717290"/>
            <a:ext cx="314833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600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600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ow emerging technologies reshape organizational  governance</a:t>
            </a:r>
            <a:r>
              <a:rPr lang="en-US" sz="1600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?</a:t>
            </a:r>
            <a:endParaRPr lang="en-US" sz="1600" b="0" i="1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Book review status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44000" y="3644900"/>
            <a:ext cx="314833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600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1600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ow emerging technologies reshape organizational  structures </a:t>
            </a:r>
            <a:r>
              <a:rPr lang="en-US" sz="1600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?</a:t>
            </a:r>
            <a:endParaRPr lang="en-US" sz="1600" b="0" i="1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Book review status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720465" y="6309360"/>
            <a:ext cx="472694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600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organizations leverage technological innovation to create and capture economic value ? </a:t>
            </a:r>
            <a:endParaRPr lang="en-US" sz="1600" b="0" i="1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Book review status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960235" y="4235450"/>
            <a:ext cx="314833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275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600" b="0" i="1">
                <a:solidFill>
                  <a:srgbClr val="102A5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Empirical seeting</a:t>
            </a:r>
            <a:endParaRPr lang="en-US" sz="1600" b="0" i="1">
              <a:solidFill>
                <a:srgbClr val="102A5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WPS 文字</Application>
  <PresentationFormat>Converted Presentation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微软雅黑</vt:lpstr>
      <vt:lpstr>汉仪旗黑</vt:lpstr>
      <vt:lpstr>宋体</vt:lpstr>
      <vt:lpstr>Arial Unicode MS</vt:lpstr>
      <vt:lpstr>汉仪书宋二KW</vt:lpstr>
      <vt:lpstr>Aptos</vt:lpstr>
      <vt:lpstr>苹方-简</vt:lpstr>
      <vt:lpstr>Times New Roman Bold Italic</vt:lpstr>
      <vt:lpstr>Times New Roman Italic</vt:lpstr>
      <vt:lpstr>Calibri</vt:lpstr>
      <vt:lpstr>Helvetica Neue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青春如火，朝霞似锦</cp:lastModifiedBy>
  <cp:revision>1</cp:revision>
  <dcterms:created xsi:type="dcterms:W3CDTF">2026-10-26T19:39:55Z</dcterms:created>
  <dcterms:modified xsi:type="dcterms:W3CDTF">2026-10-26T19:39:55Z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054D1D8A473F45948BACDF6A168E2F8A_42</vt:lpwstr>
  </property>
  <property fmtid="{D5CDD505-2E9C-101B-9397-08002B2CF9AE}" pid="3" name="KSOProductBuildVer">
    <vt:lpwstr>2052-6.7.1.8828</vt:lpwstr>
  </property>
</Properties>
</file>